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0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0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Quad Arrow 3"/>
          <p:cNvSpPr/>
          <p:nvPr/>
        </p:nvSpPr>
        <p:spPr>
          <a:xfrm>
            <a:off x="5029200" y="1097280"/>
            <a:ext cx="2103120" cy="2103120"/>
          </a:xfrm>
          <a:prstGeom prst="quadArrow">
            <a:avLst/>
          </a:prstGeom>
          <a:solidFill>
            <a:srgbClr val="B54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937760" y="310896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0EDE8"/>
                </a:solidFill>
                <a:latin typeface="Aptos"/>
              </a:rPr>
              <a:t>VANE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4160520"/>
            <a:ext cx="76196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0EDE8"/>
                </a:solidFill>
                <a:latin typeface="Aptos"/>
              </a:rPr>
              <a:t>Agent Identity Infrastructure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5029200"/>
            <a:ext cx="3047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B5451B"/>
                </a:solidFill>
                <a:latin typeface="Aptos"/>
              </a:rPr>
              <a:t>vane.build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49224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E7A"/>
                </a:solidFill>
                <a:latin typeface="Aptos"/>
              </a:rPr>
              <a:t>A presentation by Pablo</a:t>
            </a:r>
          </a:p>
        </p:txBody>
      </p:sp>
      <p:sp>
        <p:nvSpPr>
          <p:cNvPr id="9" name="Quad Arrow 8"/>
          <p:cNvSpPr/>
          <p:nvPr/>
        </p:nvSpPr>
        <p:spPr>
          <a:xfrm>
            <a:off x="201168" y="109728"/>
            <a:ext cx="256032" cy="256032"/>
          </a:xfrm>
          <a:prstGeom prst="quadArrow">
            <a:avLst/>
          </a:prstGeom>
          <a:solidFill>
            <a:srgbClr val="B54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91439"/>
            <a:ext cx="685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0EDE8"/>
                </a:solidFill>
                <a:latin typeface="Aptos"/>
              </a:rPr>
              <a:t>VANE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Quad Arrow 1"/>
          <p:cNvSpPr/>
          <p:nvPr/>
        </p:nvSpPr>
        <p:spPr>
          <a:xfrm>
            <a:off x="164592" y="91440"/>
            <a:ext cx="292608" cy="292608"/>
          </a:xfrm>
          <a:prstGeom prst="quadArrow">
            <a:avLst/>
          </a:prstGeom>
          <a:solidFill>
            <a:srgbClr val="B54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6858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A1628"/>
                </a:solidFill>
                <a:latin typeface="Aptos"/>
              </a:rPr>
              <a:t>VANE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0A1628"/>
                </a:solidFill>
                <a:latin typeface="Aptos"/>
              </a:rPr>
              <a:t>AI is no longer just a tool.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65960"/>
            <a:ext cx="6400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00"/>
              </a:lnSpc>
            </a:pPr>
            <a:r>
              <a:rPr sz="2200" b="0" i="0">
                <a:solidFill>
                  <a:srgbClr val="0A1628"/>
                </a:solidFill>
                <a:latin typeface="Aptos"/>
              </a:rPr>
              <a:t>Today, AI agents take real actions inside real systems.
They send emails. They move money. They access databases.
They make decisions.
Without asking anyone.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06640" y="822960"/>
            <a:ext cx="4389120" cy="4663440"/>
          </a:xfrm>
          <a:prstGeom prst="roundRect">
            <a:avLst>
              <a:gd name="adj" fmla="val 3000"/>
            </a:avLst>
          </a:prstGeom>
          <a:solidFill>
            <a:srgbClr val="152842"/>
          </a:solidFill>
          <a:ln w="19050">
            <a:solidFill>
              <a:srgbClr val="B545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43800" y="2953511"/>
            <a:ext cx="4114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B5451B"/>
                </a:solidFill>
                <a:latin typeface="Aptos"/>
              </a:rPr>
              <a:t>[ IMAGE: Developer at dual monitors watching AI agent activity — enterprise tech office, cool blue tones, shallow depth of field ]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56832"/>
            <a:ext cx="12191695" cy="54864"/>
          </a:xfrm>
          <a:prstGeom prst="rect">
            <a:avLst/>
          </a:prstGeom>
          <a:solidFill>
            <a:srgbClr val="B54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545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Rounded Rectangle 4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3000"/>
            </a:avLst>
          </a:prstGeom>
          <a:solidFill>
            <a:srgbClr val="152842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Quad Arrow 1"/>
          <p:cNvSpPr/>
          <p:nvPr/>
        </p:nvSpPr>
        <p:spPr>
          <a:xfrm>
            <a:off x="164592" y="91440"/>
            <a:ext cx="292608" cy="292608"/>
          </a:xfrm>
          <a:prstGeom prst="quadArrow">
            <a:avLst/>
          </a:prstGeom>
          <a:solidFill>
            <a:srgbClr val="B54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6858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0EDE8"/>
                </a:solidFill>
                <a:latin typeface="Aptos"/>
              </a:rPr>
              <a:t>VANE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3227832"/>
            <a:ext cx="11917375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B5451B"/>
                </a:solidFill>
                <a:latin typeface="Aptos"/>
              </a:rPr>
              <a:t>[ IMAGE: Dark enterprise office at night — multiple glowing screens, silhouettes of people, deep shadows, cinematic 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18872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0EDE8"/>
                </a:solidFill>
                <a:latin typeface="Aptos"/>
              </a:rPr>
              <a:t>And nobody knows who authorized them.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06040"/>
            <a:ext cx="10058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00"/>
              </a:lnSpc>
            </a:pPr>
            <a:r>
              <a:rPr sz="2200" b="0" i="0">
                <a:solidFill>
                  <a:srgbClr val="F0EDE8"/>
                </a:solidFill>
                <a:latin typeface="Aptos"/>
              </a:rPr>
              <a:t>When an AI agent calls your bank, your CRM, or your supply chain system — there is no way to verify who sent it, who approved it, or what it is allowed to do.
An API key proves nothing.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Quad Arrow 1"/>
          <p:cNvSpPr/>
          <p:nvPr/>
        </p:nvSpPr>
        <p:spPr>
          <a:xfrm>
            <a:off x="164592" y="91440"/>
            <a:ext cx="292608" cy="292608"/>
          </a:xfrm>
          <a:prstGeom prst="quadArrow">
            <a:avLst/>
          </a:prstGeom>
          <a:solidFill>
            <a:srgbClr val="B54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6858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A1628"/>
                </a:solidFill>
                <a:latin typeface="Aptos"/>
              </a:rPr>
              <a:t>VANE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0A1628"/>
                </a:solidFill>
                <a:latin typeface="Aptos"/>
              </a:rPr>
              <a:t>This is already a crisis.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27632"/>
            <a:ext cx="2560320" cy="1463040"/>
          </a:xfrm>
          <a:prstGeom prst="roundRect">
            <a:avLst>
              <a:gd name="adj" fmla="val 4000"/>
            </a:avLst>
          </a:prstGeom>
          <a:solidFill>
            <a:srgbClr val="B54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673352"/>
            <a:ext cx="2340863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0EDE8"/>
                </a:solidFill>
                <a:latin typeface="Aptos"/>
              </a:rPr>
              <a:t>88%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286000"/>
            <a:ext cx="234086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0EDE8"/>
                </a:solidFill>
                <a:latin typeface="Aptos"/>
              </a:rPr>
              <a:t>of enterprises already
breached by ungoverned agents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73368" y="1627632"/>
            <a:ext cx="2560320" cy="1463040"/>
          </a:xfrm>
          <a:prstGeom prst="roundRect">
            <a:avLst>
              <a:gd name="adj" fmla="val 4000"/>
            </a:avLst>
          </a:prstGeom>
          <a:solidFill>
            <a:srgbClr val="B54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83096" y="1673352"/>
            <a:ext cx="2340863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0EDE8"/>
                </a:solidFill>
                <a:latin typeface="Aptos"/>
              </a:rPr>
              <a:t>97%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3096" y="2286000"/>
            <a:ext cx="234086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0EDE8"/>
                </a:solidFill>
                <a:latin typeface="Aptos"/>
              </a:rPr>
              <a:t>of breached organizations
lacked AI access controls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310128"/>
            <a:ext cx="2560320" cy="1463040"/>
          </a:xfrm>
          <a:prstGeom prst="roundRect">
            <a:avLst>
              <a:gd name="adj" fmla="val 4000"/>
            </a:avLst>
          </a:prstGeom>
          <a:solidFill>
            <a:srgbClr val="B54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3355848"/>
            <a:ext cx="2340863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0EDE8"/>
                </a:solidFill>
                <a:latin typeface="Aptos"/>
              </a:rPr>
              <a:t>$670K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968496"/>
            <a:ext cx="234086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0EDE8"/>
                </a:solidFill>
                <a:latin typeface="Aptos"/>
              </a:rPr>
              <a:t>added to average breach
cost by shadow AI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73368" y="3310128"/>
            <a:ext cx="2560320" cy="1463040"/>
          </a:xfrm>
          <a:prstGeom prst="roundRect">
            <a:avLst>
              <a:gd name="adj" fmla="val 4000"/>
            </a:avLst>
          </a:prstGeom>
          <a:solidFill>
            <a:srgbClr val="B54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3096" y="3355848"/>
            <a:ext cx="2340863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0EDE8"/>
                </a:solidFill>
                <a:latin typeface="Aptos"/>
              </a:rPr>
              <a:t>2,000+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3096" y="3968496"/>
            <a:ext cx="234086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0EDE8"/>
                </a:solidFill>
                <a:latin typeface="Aptos"/>
              </a:rPr>
              <a:t>AI legal claims projected
by end of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093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8827C"/>
                </a:solidFill>
                <a:latin typeface="Aptos"/>
              </a:rPr>
              <a:t>Sources: IBM Cost of a Data Breach 2025 · Gartner 2026 · CSA Research April 2026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656832"/>
            <a:ext cx="12191695" cy="54864"/>
          </a:xfrm>
          <a:prstGeom prst="rect">
            <a:avLst/>
          </a:prstGeom>
          <a:solidFill>
            <a:srgbClr val="B54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Quad Arrow 1"/>
          <p:cNvSpPr/>
          <p:nvPr/>
        </p:nvSpPr>
        <p:spPr>
          <a:xfrm>
            <a:off x="164592" y="91440"/>
            <a:ext cx="292608" cy="292608"/>
          </a:xfrm>
          <a:prstGeom prst="quadArrow">
            <a:avLst/>
          </a:prstGeom>
          <a:solidFill>
            <a:srgbClr val="B54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6858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0EDE8"/>
                </a:solidFill>
                <a:latin typeface="Aptos"/>
              </a:rPr>
              <a:t>VANE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0EDE8"/>
                </a:solidFill>
                <a:latin typeface="Aptos"/>
              </a:rPr>
              <a:t>Every agent needs an identity.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33172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00"/>
              </a:lnSpc>
            </a:pPr>
            <a:r>
              <a:rPr sz="2400" b="0" i="0">
                <a:solidFill>
                  <a:srgbClr val="F0EDE8"/>
                </a:solidFill>
                <a:latin typeface="Aptos"/>
              </a:rPr>
              <a:t>Just like a person carries a passport — a document that proves who they are, who authorized them to be there, and what they are allowed to do —
every AI agent needs the same thing.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5257800"/>
            <a:ext cx="3383280" cy="1188720"/>
          </a:xfrm>
          <a:prstGeom prst="roundRect">
            <a:avLst>
              <a:gd name="adj" fmla="val 3000"/>
            </a:avLst>
          </a:prstGeom>
          <a:solidFill>
            <a:srgbClr val="152842"/>
          </a:solidFill>
          <a:ln w="19050">
            <a:solidFill>
              <a:srgbClr val="B545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5650992"/>
            <a:ext cx="3108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B5451B"/>
                </a:solidFill>
                <a:latin typeface="Aptos"/>
              </a:rPr>
              <a:t>[ IMAGE: Real passport on dark leather surface — dramatic studio lighting, gold details, luxury feel 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545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Quad Arrow 1"/>
          <p:cNvSpPr/>
          <p:nvPr/>
        </p:nvSpPr>
        <p:spPr>
          <a:xfrm>
            <a:off x="4480560" y="731520"/>
            <a:ext cx="3200400" cy="3200400"/>
          </a:xfrm>
          <a:prstGeom prst="quadArrow">
            <a:avLst/>
          </a:prstGeom>
          <a:solidFill>
            <a:srgbClr val="F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0" y="3657600"/>
            <a:ext cx="6400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1" i="0">
                <a:solidFill>
                  <a:srgbClr val="F0EDE8"/>
                </a:solidFill>
                <a:latin typeface="Aptos"/>
              </a:rPr>
              <a:t>VANE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5166360"/>
            <a:ext cx="76196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0EDE8"/>
                </a:solidFill>
                <a:latin typeface="Aptos"/>
              </a:rPr>
              <a:t>Give your agents identity.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0" y="59893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0D8CC"/>
                </a:solidFill>
                <a:latin typeface="Aptos"/>
              </a:rPr>
              <a:t>vane.build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Quad Arrow 1"/>
          <p:cNvSpPr/>
          <p:nvPr/>
        </p:nvSpPr>
        <p:spPr>
          <a:xfrm>
            <a:off x="164592" y="91440"/>
            <a:ext cx="292608" cy="292608"/>
          </a:xfrm>
          <a:prstGeom prst="quadArrow">
            <a:avLst/>
          </a:prstGeom>
          <a:solidFill>
            <a:srgbClr val="B54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6858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A1628"/>
                </a:solidFill>
                <a:latin typeface="Aptos"/>
              </a:rPr>
              <a:t>VANE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A1628"/>
                </a:solidFill>
                <a:latin typeface="Aptos"/>
              </a:rPr>
              <a:t>A cryptographic passport for every AI agent.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55648"/>
            <a:ext cx="5669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000"/>
              </a:lnSpc>
            </a:pPr>
            <a:r>
              <a:rPr sz="2000" b="0" i="0">
                <a:solidFill>
                  <a:srgbClr val="0A1628"/>
                </a:solidFill>
                <a:latin typeface="Aptos"/>
              </a:rPr>
              <a:t>Vane issues every AI agent a signed digital credential — called an Agent Passport — that carries its identity, who authorized it, what it is allowed to do, and a tamper-proof record of every action it takes.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371600"/>
            <a:ext cx="5120640" cy="411480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 w="31750">
            <a:solidFill>
              <a:srgbClr val="B545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0" y="1371600"/>
            <a:ext cx="5120640" cy="594360"/>
          </a:xfrm>
          <a:prstGeom prst="rect">
            <a:avLst/>
          </a:prstGeom>
          <a:solidFill>
            <a:srgbClr val="B54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20840" y="1435608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0EDE8"/>
                </a:solidFill>
                <a:latin typeface="Aptos"/>
              </a:rPr>
              <a:t>VANE AGENT PASSPORT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2148840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5451B"/>
                </a:solidFill>
                <a:latin typeface="Aptos"/>
              </a:rPr>
              <a:t>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8200" y="2148840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EDE8"/>
                </a:solidFill>
                <a:latin typeface="Aptos"/>
              </a:rPr>
              <a:t>billing-agent-001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2551176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5451B"/>
                </a:solidFill>
                <a:latin typeface="Aptos"/>
              </a:rPr>
              <a:t>COMPANY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8200" y="2551176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EDE8"/>
                </a:solidFill>
                <a:latin typeface="Aptos"/>
              </a:rPr>
              <a:t>acme-corp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2953512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5451B"/>
                </a:solidFill>
                <a:latin typeface="Aptos"/>
              </a:rPr>
              <a:t>AUTHORIZED BY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2953512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EDE8"/>
                </a:solidFill>
                <a:latin typeface="Aptos"/>
              </a:rPr>
              <a:t>CFO → Eng Lead → 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3355848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5451B"/>
                </a:solidFill>
                <a:latin typeface="Aptos"/>
              </a:rPr>
              <a:t>SCOPES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3355848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EDE8"/>
                </a:solidFill>
                <a:latin typeface="Aptos"/>
              </a:rPr>
              <a:t>financial:read · attest:write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3758184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5451B"/>
                </a:solidFill>
                <a:latin typeface="Aptos"/>
              </a:rPr>
              <a:t>SIGNATURE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3758184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EDE8"/>
                </a:solidFill>
                <a:latin typeface="Aptos"/>
              </a:rPr>
              <a:t>Ed25519  ✓ VERIFIED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66560" y="3858768"/>
            <a:ext cx="4389120" cy="27432"/>
          </a:xfrm>
          <a:prstGeom prst="rect">
            <a:avLst/>
          </a:prstGeom>
          <a:solidFill>
            <a:srgbClr val="B54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83680" y="1371600"/>
            <a:ext cx="5120640" cy="4114800"/>
          </a:xfrm>
          <a:prstGeom prst="roundRect">
            <a:avLst>
              <a:gd name="adj" fmla="val 2500"/>
            </a:avLst>
          </a:prstGeom>
          <a:noFill/>
          <a:ln w="12700">
            <a:solidFill>
              <a:srgbClr val="D46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656832"/>
            <a:ext cx="12191695" cy="54864"/>
          </a:xfrm>
          <a:prstGeom prst="rect">
            <a:avLst/>
          </a:prstGeom>
          <a:solidFill>
            <a:srgbClr val="B54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Quad Arrow 1"/>
          <p:cNvSpPr/>
          <p:nvPr/>
        </p:nvSpPr>
        <p:spPr>
          <a:xfrm>
            <a:off x="164592" y="91440"/>
            <a:ext cx="292608" cy="292608"/>
          </a:xfrm>
          <a:prstGeom prst="quadArrow">
            <a:avLst/>
          </a:prstGeom>
          <a:solidFill>
            <a:srgbClr val="B54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6858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0EDE8"/>
                </a:solidFill>
                <a:latin typeface="Aptos"/>
              </a:rPr>
              <a:t>VANE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0EDE8"/>
                </a:solidFill>
                <a:latin typeface="Aptos"/>
              </a:rPr>
              <a:t>Three steps.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3291840" cy="3840480"/>
          </a:xfrm>
          <a:prstGeom prst="roundRect">
            <a:avLst>
              <a:gd name="adj" fmla="val 4000"/>
            </a:avLst>
          </a:prstGeom>
          <a:solidFill>
            <a:srgbClr val="10223E"/>
          </a:solidFill>
          <a:ln w="12700">
            <a:solidFill>
              <a:srgbClr val="20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30175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B5451B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10896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0EDE8"/>
                </a:solidFill>
                <a:latin typeface="Aptos"/>
              </a:rPr>
              <a:t>REGISTER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749039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00"/>
              </a:lnSpc>
            </a:pPr>
            <a:r>
              <a:rPr sz="1700" b="0" i="0">
                <a:solidFill>
                  <a:srgbClr val="C0CCD8"/>
                </a:solidFill>
                <a:latin typeface="Aptos"/>
              </a:rPr>
              <a:t>Your agent gets a cryptographic identity tied to your organization.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53128" y="1828800"/>
            <a:ext cx="3291840" cy="3840480"/>
          </a:xfrm>
          <a:prstGeom prst="roundRect">
            <a:avLst>
              <a:gd name="adj" fmla="val 4000"/>
            </a:avLst>
          </a:prstGeom>
          <a:solidFill>
            <a:srgbClr val="10223E"/>
          </a:solidFill>
          <a:ln w="12700">
            <a:solidFill>
              <a:srgbClr val="20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1965960"/>
            <a:ext cx="30175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B5451B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310896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0EDE8"/>
                </a:solidFill>
                <a:latin typeface="Aptos"/>
              </a:rPr>
              <a:t>PASSPORT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8" y="3749039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00"/>
              </a:lnSpc>
            </a:pPr>
            <a:r>
              <a:rPr sz="1700" b="0" i="0">
                <a:solidFill>
                  <a:srgbClr val="C0CCD8"/>
                </a:solidFill>
                <a:latin typeface="Aptos"/>
              </a:rPr>
              <a:t>A signed credential is issued carrying identity, scopes, and who approved 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1828800"/>
            <a:ext cx="3291840" cy="3840480"/>
          </a:xfrm>
          <a:prstGeom prst="roundRect">
            <a:avLst>
              <a:gd name="adj" fmla="val 4000"/>
            </a:avLst>
          </a:prstGeom>
          <a:solidFill>
            <a:srgbClr val="10223E"/>
          </a:solidFill>
          <a:ln w="12700">
            <a:solidFill>
              <a:srgbClr val="20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9640" y="1965960"/>
            <a:ext cx="30175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B5451B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310896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0EDE8"/>
                </a:solidFill>
                <a:latin typeface="Aptos"/>
              </a:rPr>
              <a:t>ATTEST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59" y="3749039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00"/>
              </a:lnSpc>
            </a:pPr>
            <a:r>
              <a:rPr sz="1700" b="0" i="0">
                <a:solidFill>
                  <a:srgbClr val="C0CCD8"/>
                </a:solidFill>
                <a:latin typeface="Aptos"/>
              </a:rPr>
              <a:t>Every real-world action is logged to a tamper-proof record. Forever auditable.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023360" y="3337560"/>
            <a:ext cx="365760" cy="320040"/>
          </a:xfrm>
          <a:prstGeom prst="rightArrow">
            <a:avLst/>
          </a:prstGeom>
          <a:solidFill>
            <a:srgbClr val="B54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Arrow 17"/>
          <p:cNvSpPr/>
          <p:nvPr/>
        </p:nvSpPr>
        <p:spPr>
          <a:xfrm>
            <a:off x="7982712" y="3337560"/>
            <a:ext cx="365760" cy="320040"/>
          </a:xfrm>
          <a:prstGeom prst="rightArrow">
            <a:avLst/>
          </a:prstGeom>
          <a:solidFill>
            <a:srgbClr val="B54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Quad Arrow 1"/>
          <p:cNvSpPr/>
          <p:nvPr/>
        </p:nvSpPr>
        <p:spPr>
          <a:xfrm>
            <a:off x="164592" y="91440"/>
            <a:ext cx="292608" cy="292608"/>
          </a:xfrm>
          <a:prstGeom prst="quadArrow">
            <a:avLst/>
          </a:prstGeom>
          <a:solidFill>
            <a:srgbClr val="B54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6858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A1628"/>
                </a:solidFill>
                <a:latin typeface="Aptos"/>
              </a:rPr>
              <a:t>VANE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0A1628"/>
                </a:solidFill>
                <a:latin typeface="Aptos"/>
              </a:rPr>
              <a:t>Built and live. Right now.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91640"/>
            <a:ext cx="5394960" cy="914400"/>
          </a:xfrm>
          <a:prstGeom prst="roundRect">
            <a:avLst>
              <a:gd name="adj" fmla="val 3000"/>
            </a:avLst>
          </a:prstGeom>
          <a:solidFill>
            <a:srgbClr val="0A1628"/>
          </a:solidFill>
          <a:ln w="19050">
            <a:solidFill>
              <a:srgbClr val="B545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856232"/>
            <a:ext cx="502920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0EDE8"/>
                </a:solidFill>
                <a:latin typeface="Aptos"/>
              </a:rPr>
              <a:t>✓  Live API at vane.build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91072" y="1691640"/>
            <a:ext cx="5394960" cy="914400"/>
          </a:xfrm>
          <a:prstGeom prst="roundRect">
            <a:avLst>
              <a:gd name="adj" fmla="val 3000"/>
            </a:avLst>
          </a:prstGeom>
          <a:solidFill>
            <a:srgbClr val="0A1628"/>
          </a:solidFill>
          <a:ln w="19050">
            <a:solidFill>
              <a:srgbClr val="B545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73952" y="1856232"/>
            <a:ext cx="502920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0EDE8"/>
                </a:solidFill>
                <a:latin typeface="Aptos"/>
              </a:rPr>
              <a:t>✓  5 npm packages published globally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743200"/>
            <a:ext cx="5394960" cy="914400"/>
          </a:xfrm>
          <a:prstGeom prst="roundRect">
            <a:avLst>
              <a:gd name="adj" fmla="val 3000"/>
            </a:avLst>
          </a:prstGeom>
          <a:solidFill>
            <a:srgbClr val="0A1628"/>
          </a:solidFill>
          <a:ln w="19050">
            <a:solidFill>
              <a:srgbClr val="B545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907792"/>
            <a:ext cx="502920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0EDE8"/>
                </a:solidFill>
                <a:latin typeface="Aptos"/>
              </a:rPr>
              <a:t>✓  35-page documentation site at docs.vane.build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91072" y="2743200"/>
            <a:ext cx="5394960" cy="914400"/>
          </a:xfrm>
          <a:prstGeom prst="roundRect">
            <a:avLst>
              <a:gd name="adj" fmla="val 3000"/>
            </a:avLst>
          </a:prstGeom>
          <a:solidFill>
            <a:srgbClr val="0A1628"/>
          </a:solidFill>
          <a:ln w="19050">
            <a:solidFill>
              <a:srgbClr val="B545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2907792"/>
            <a:ext cx="502920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0EDE8"/>
                </a:solidFill>
                <a:latin typeface="Aptos"/>
              </a:rPr>
              <a:t>✓  Works with LangChain, CrewAI, OpenAI Agents SDK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794760"/>
            <a:ext cx="5394960" cy="914400"/>
          </a:xfrm>
          <a:prstGeom prst="roundRect">
            <a:avLst>
              <a:gd name="adj" fmla="val 3000"/>
            </a:avLst>
          </a:prstGeom>
          <a:solidFill>
            <a:srgbClr val="0A1628"/>
          </a:solidFill>
          <a:ln w="19050">
            <a:solidFill>
              <a:srgbClr val="B545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959352"/>
            <a:ext cx="502920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0EDE8"/>
                </a:solidFill>
                <a:latin typeface="Aptos"/>
              </a:rPr>
              <a:t>✓  Ed25519 cryptography and Merkle tree attestation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91072" y="3794760"/>
            <a:ext cx="5394960" cy="914400"/>
          </a:xfrm>
          <a:prstGeom prst="roundRect">
            <a:avLst>
              <a:gd name="adj" fmla="val 3000"/>
            </a:avLst>
          </a:prstGeom>
          <a:solidFill>
            <a:srgbClr val="0A1628"/>
          </a:solidFill>
          <a:ln w="19050">
            <a:solidFill>
              <a:srgbClr val="B545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3952" y="3959352"/>
            <a:ext cx="502920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0EDE8"/>
                </a:solidFill>
                <a:latin typeface="Aptos"/>
              </a:rPr>
              <a:t>✓  EU AI Act compliant from day one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0" y="4983480"/>
            <a:ext cx="3962095" cy="594360"/>
          </a:xfrm>
          <a:prstGeom prst="roundRect">
            <a:avLst>
              <a:gd name="adj" fmla="val 5000"/>
            </a:avLst>
          </a:prstGeom>
          <a:solidFill>
            <a:srgbClr val="B54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0" y="5047488"/>
            <a:ext cx="3962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0EDE8"/>
                </a:solidFill>
                <a:latin typeface="Aptos"/>
              </a:rPr>
              <a:t>Built in one week.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656832"/>
            <a:ext cx="12191695" cy="54864"/>
          </a:xfrm>
          <a:prstGeom prst="rect">
            <a:avLst/>
          </a:prstGeom>
          <a:solidFill>
            <a:srgbClr val="B54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545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Quad Arrow 1"/>
          <p:cNvSpPr/>
          <p:nvPr/>
        </p:nvSpPr>
        <p:spPr>
          <a:xfrm>
            <a:off x="164592" y="91440"/>
            <a:ext cx="292608" cy="292608"/>
          </a:xfrm>
          <a:prstGeom prst="quadArrow">
            <a:avLst/>
          </a:prstGeom>
          <a:solidFill>
            <a:srgbClr val="B54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6858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0EDE8"/>
                </a:solidFill>
                <a:latin typeface="Aptos"/>
              </a:rPr>
              <a:t>VANE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0EDE8"/>
                </a:solidFill>
                <a:latin typeface="Aptos"/>
              </a:rPr>
              <a:t>The market is enormous.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91640"/>
            <a:ext cx="3474720" cy="3291840"/>
          </a:xfrm>
          <a:prstGeom prst="roundRect">
            <a:avLst>
              <a:gd name="adj" fmla="val 5000"/>
            </a:avLst>
          </a:prstGeom>
          <a:solidFill>
            <a:srgbClr val="953510"/>
          </a:solidFill>
          <a:ln w="12700">
            <a:solidFill>
              <a:srgbClr val="F0E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828800"/>
            <a:ext cx="329183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0" b="1" i="0">
                <a:solidFill>
                  <a:srgbClr val="F0EDE8"/>
                </a:solidFill>
                <a:latin typeface="Aptos"/>
              </a:rPr>
              <a:t>$800B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4612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00"/>
              </a:lnSpc>
            </a:pPr>
            <a:r>
              <a:rPr sz="1800" b="0" i="0">
                <a:solidFill>
                  <a:srgbClr val="F5E0D5"/>
                </a:solidFill>
                <a:latin typeface="Aptos"/>
              </a:rPr>
              <a:t>projected AI agent
security market
by 2031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61688" y="1691640"/>
            <a:ext cx="3474720" cy="3291840"/>
          </a:xfrm>
          <a:prstGeom prst="roundRect">
            <a:avLst>
              <a:gd name="adj" fmla="val 5000"/>
            </a:avLst>
          </a:prstGeom>
          <a:solidFill>
            <a:srgbClr val="953510"/>
          </a:solidFill>
          <a:ln w="12700">
            <a:solidFill>
              <a:srgbClr val="F0E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53127" y="1828800"/>
            <a:ext cx="329183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0" b="1" i="0">
                <a:solidFill>
                  <a:srgbClr val="F0EDE8"/>
                </a:solidFill>
                <a:latin typeface="Aptos"/>
              </a:rPr>
              <a:t>40%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8848" y="324612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00"/>
              </a:lnSpc>
            </a:pPr>
            <a:r>
              <a:rPr sz="1800" b="0" i="0">
                <a:solidFill>
                  <a:srgbClr val="F5E0D5"/>
                </a:solidFill>
                <a:latin typeface="Aptos"/>
              </a:rPr>
              <a:t>of enterprise apps
will have AI agents
by end of 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0456" y="1691640"/>
            <a:ext cx="3474720" cy="3291840"/>
          </a:xfrm>
          <a:prstGeom prst="roundRect">
            <a:avLst>
              <a:gd name="adj" fmla="val 5000"/>
            </a:avLst>
          </a:prstGeom>
          <a:solidFill>
            <a:srgbClr val="953510"/>
          </a:solidFill>
          <a:ln w="12700">
            <a:solidFill>
              <a:srgbClr val="F0E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11896" y="1828800"/>
            <a:ext cx="329183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0" b="1" i="0">
                <a:solidFill>
                  <a:srgbClr val="F0EDE8"/>
                </a:solidFill>
                <a:latin typeface="Aptos"/>
              </a:rPr>
              <a:t>145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57616" y="324612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00"/>
              </a:lnSpc>
            </a:pPr>
            <a:r>
              <a:rPr sz="1800" b="0" i="0">
                <a:solidFill>
                  <a:srgbClr val="F5E0D5"/>
                </a:solidFill>
                <a:latin typeface="Aptos"/>
              </a:rPr>
              <a:t>AI laws passed
in 2025 alone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212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0EDE8"/>
                </a:solidFill>
                <a:latin typeface="Aptos"/>
              </a:rPr>
              <a:t>Vane is to AI agents what SSL was to the internet.
Every agent that takes a real action will need this.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Quad Arrow 1"/>
          <p:cNvSpPr/>
          <p:nvPr/>
        </p:nvSpPr>
        <p:spPr>
          <a:xfrm>
            <a:off x="164592" y="91440"/>
            <a:ext cx="292608" cy="292608"/>
          </a:xfrm>
          <a:prstGeom prst="quadArrow">
            <a:avLst/>
          </a:prstGeom>
          <a:solidFill>
            <a:srgbClr val="B54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6858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A1628"/>
                </a:solidFill>
                <a:latin typeface="Aptos"/>
              </a:rPr>
              <a:t>VANE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0A1628"/>
                </a:solidFill>
                <a:latin typeface="Aptos"/>
              </a:rPr>
              <a:t>Who needs Vane.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27632"/>
            <a:ext cx="3474720" cy="1828800"/>
          </a:xfrm>
          <a:prstGeom prst="roundRect">
            <a:avLst>
              <a:gd name="adj" fmla="val 3000"/>
            </a:avLst>
          </a:prstGeom>
          <a:solidFill>
            <a:srgbClr val="152842"/>
          </a:solidFill>
          <a:ln w="19050">
            <a:solidFill>
              <a:srgbClr val="B545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340864"/>
            <a:ext cx="3200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B5451B"/>
                </a:solidFill>
                <a:latin typeface="Aptos"/>
              </a:rPr>
              <a:t>[ IMAGE: Glass office tower at night — city lights, executive floor, modern architecture 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566160"/>
            <a:ext cx="3474720" cy="2606040"/>
          </a:xfrm>
          <a:prstGeom prst="roundRect">
            <a:avLst>
              <a:gd name="adj" fmla="val 3000"/>
            </a:avLst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370332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5451B"/>
                </a:solidFill>
                <a:latin typeface="Aptos"/>
              </a:rPr>
              <a:t>ENTERPRISE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315968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EDE8"/>
                </a:solidFill>
                <a:latin typeface="Aptos"/>
              </a:rPr>
              <a:t>Fortune 500 companies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718304"/>
            <a:ext cx="310896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</a:pPr>
            <a:r>
              <a:rPr sz="1300" b="0" i="0">
                <a:solidFill>
                  <a:srgbClr val="B8C4D0"/>
                </a:solidFill>
                <a:latin typeface="Aptos"/>
              </a:rPr>
              <a:t>Deploying AI agents in financial, legal, and operational workflows. Compliance teams and CISOs are already asking for this.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8" y="1627632"/>
            <a:ext cx="3474720" cy="1828800"/>
          </a:xfrm>
          <a:prstGeom prst="roundRect">
            <a:avLst>
              <a:gd name="adj" fmla="val 3000"/>
            </a:avLst>
          </a:prstGeom>
          <a:solidFill>
            <a:srgbClr val="152842"/>
          </a:solidFill>
          <a:ln w="19050">
            <a:solidFill>
              <a:srgbClr val="B545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98848" y="2340864"/>
            <a:ext cx="3200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B5451B"/>
                </a:solidFill>
                <a:latin typeface="Aptos"/>
              </a:rPr>
              <a:t>[ IMAGE: Startup office — developers at laptops, whiteboards covered in architecture diagrams 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1688" y="3566160"/>
            <a:ext cx="3474720" cy="2606040"/>
          </a:xfrm>
          <a:prstGeom prst="roundRect">
            <a:avLst>
              <a:gd name="adj" fmla="val 3000"/>
            </a:avLst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4568" y="370332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5451B"/>
                </a:solidFill>
                <a:latin typeface="Aptos"/>
              </a:rPr>
              <a:t>AI STARTUPS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4315968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EDE8"/>
                </a:solidFill>
                <a:latin typeface="Aptos"/>
              </a:rPr>
              <a:t>Companies building agentic products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4568" y="4718304"/>
            <a:ext cx="310896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</a:pPr>
            <a:r>
              <a:rPr sz="1300" b="0" i="0">
                <a:solidFill>
                  <a:srgbClr val="B8C4D0"/>
                </a:solidFill>
                <a:latin typeface="Aptos"/>
              </a:rPr>
              <a:t>Hitting enterprise sales gates. They need Vane to close deals and satisfy security reviews.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0456" y="1627632"/>
            <a:ext cx="3474720" cy="1828800"/>
          </a:xfrm>
          <a:prstGeom prst="roundRect">
            <a:avLst>
              <a:gd name="adj" fmla="val 3000"/>
            </a:avLst>
          </a:prstGeom>
          <a:solidFill>
            <a:srgbClr val="152842"/>
          </a:solidFill>
          <a:ln w="19050">
            <a:solidFill>
              <a:srgbClr val="B545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57616" y="2340864"/>
            <a:ext cx="3200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B5451B"/>
                </a:solidFill>
                <a:latin typeface="Aptos"/>
              </a:rPr>
              <a:t>[ IMAGE: Data center corridor — blue server rack lighting, clean geometric rows 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0456" y="3566160"/>
            <a:ext cx="3474720" cy="2606040"/>
          </a:xfrm>
          <a:prstGeom prst="roundRect">
            <a:avLst>
              <a:gd name="adj" fmla="val 3000"/>
            </a:avLst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03336" y="370332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5451B"/>
                </a:solidFill>
                <a:latin typeface="Aptos"/>
              </a:rPr>
              <a:t>MCP SERVER
OPERATORS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03336" y="4315968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EDE8"/>
                </a:solidFill>
                <a:latin typeface="Aptos"/>
              </a:rPr>
              <a:t>The infrastructure AI agents call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03336" y="4718304"/>
            <a:ext cx="310896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</a:pPr>
            <a:r>
              <a:rPr sz="1300" b="0" i="0">
                <a:solidFill>
                  <a:srgbClr val="B8C4D0"/>
                </a:solidFill>
                <a:latin typeface="Aptos"/>
              </a:rPr>
              <a:t>They need to verify who is calling them and under what authority before serving data.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56832"/>
            <a:ext cx="12191695" cy="54864"/>
          </a:xfrm>
          <a:prstGeom prst="rect">
            <a:avLst/>
          </a:prstGeom>
          <a:solidFill>
            <a:srgbClr val="B54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Quad Arrow 1"/>
          <p:cNvSpPr/>
          <p:nvPr/>
        </p:nvSpPr>
        <p:spPr>
          <a:xfrm>
            <a:off x="164592" y="91440"/>
            <a:ext cx="292608" cy="292608"/>
          </a:xfrm>
          <a:prstGeom prst="quadArrow">
            <a:avLst/>
          </a:prstGeom>
          <a:solidFill>
            <a:srgbClr val="B54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6858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0EDE8"/>
                </a:solidFill>
                <a:latin typeface="Aptos"/>
              </a:rPr>
              <a:t>VANE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0EDE8"/>
                </a:solidFill>
                <a:latin typeface="Aptos"/>
              </a:rPr>
              <a:t>Nobody owns this space yet.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91640"/>
            <a:ext cx="5303520" cy="4206240"/>
          </a:xfrm>
          <a:prstGeom prst="roundRect">
            <a:avLst>
              <a:gd name="adj" fmla="val 4000"/>
            </a:avLst>
          </a:prstGeom>
          <a:solidFill>
            <a:srgbClr val="10223E"/>
          </a:solidFill>
          <a:ln w="12700">
            <a:solidFill>
              <a:srgbClr val="28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82880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889AB0"/>
                </a:solidFill>
                <a:latin typeface="Aptos"/>
              </a:rPr>
              <a:t>Existing Solutions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59152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6788E"/>
                </a:solidFill>
                <a:latin typeface="Aptos"/>
              </a:rPr>
              <a:t>Alter · Multifactor · OAA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803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0A0B2"/>
                </a:solidFill>
                <a:latin typeface="Aptos"/>
              </a:rPr>
              <a:t>✗  Internal control only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3375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0A0B2"/>
                </a:solidFill>
                <a:latin typeface="Aptos"/>
              </a:rPr>
              <a:t>✗  Cannot verify agent identity
    across org boundaries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7947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0A0B2"/>
                </a:solidFill>
                <a:latin typeface="Aptos"/>
              </a:rPr>
              <a:t>✗  No cross-company trust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2519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0A0B2"/>
                </a:solidFill>
                <a:latin typeface="Aptos"/>
              </a:rPr>
              <a:t>✗  Not built for MCP protocol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7091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0A0B2"/>
                </a:solidFill>
                <a:latin typeface="Aptos"/>
              </a:rPr>
              <a:t>✗  No cryptographic audit trail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82512" y="1691640"/>
            <a:ext cx="5303520" cy="4206240"/>
          </a:xfrm>
          <a:prstGeom prst="roundRect">
            <a:avLst>
              <a:gd name="adj" fmla="val 4000"/>
            </a:avLst>
          </a:prstGeom>
          <a:solidFill>
            <a:srgbClr val="183020"/>
          </a:solidFill>
          <a:ln w="25400">
            <a:solidFill>
              <a:srgbClr val="B545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65392" y="182880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B5451B"/>
                </a:solidFill>
                <a:latin typeface="Aptos"/>
              </a:rPr>
              <a:t>Vane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5392" y="23317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5856A"/>
                </a:solidFill>
                <a:latin typeface="Aptos"/>
              </a:rPr>
              <a:t>vane.build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5392" y="2816352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EDE8"/>
                </a:solidFill>
                <a:latin typeface="Aptos"/>
              </a:rPr>
              <a:t>✓  Cross-organizational trust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5392" y="3273552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EDE8"/>
                </a:solidFill>
                <a:latin typeface="Aptos"/>
              </a:rPr>
              <a:t>✓  Offline cryptographic verification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5392" y="3730752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EDE8"/>
                </a:solidFill>
                <a:latin typeface="Aptos"/>
              </a:rPr>
              <a:t>✓  MCP-native protocol support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5392" y="4187952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EDE8"/>
                </a:solidFill>
                <a:latin typeface="Aptos"/>
              </a:rPr>
              <a:t>✓  Open standard — no lock-in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5392" y="4645152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EDE8"/>
                </a:solidFill>
                <a:latin typeface="Aptos"/>
              </a:rPr>
              <a:t>✓  Developer-first API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080760"/>
            <a:ext cx="12191695" cy="640080"/>
          </a:xfrm>
          <a:prstGeom prst="rect">
            <a:avLst/>
          </a:prstGeom>
          <a:solidFill>
            <a:srgbClr val="05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61447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0EDE8"/>
                </a:solidFill>
                <a:latin typeface="Aptos"/>
              </a:rPr>
              <a:t>The cross-organizational agent trust problem is unsolved. Vane solves it.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Quad Arrow 1"/>
          <p:cNvSpPr/>
          <p:nvPr/>
        </p:nvSpPr>
        <p:spPr>
          <a:xfrm>
            <a:off x="164592" y="91440"/>
            <a:ext cx="292608" cy="292608"/>
          </a:xfrm>
          <a:prstGeom prst="quadArrow">
            <a:avLst/>
          </a:prstGeom>
          <a:solidFill>
            <a:srgbClr val="B54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6858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A1628"/>
                </a:solidFill>
                <a:latin typeface="Aptos"/>
              </a:rPr>
              <a:t>VANE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0A1628"/>
                </a:solidFill>
                <a:latin typeface="Aptos"/>
              </a:rPr>
              <a:t>How Vane makes money.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00200"/>
            <a:ext cx="3474720" cy="420624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 w="19050">
            <a:solidFill>
              <a:srgbClr val="B545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600200"/>
            <a:ext cx="3474720" cy="640080"/>
          </a:xfrm>
          <a:prstGeom prst="rect">
            <a:avLst/>
          </a:prstGeom>
          <a:solidFill>
            <a:srgbClr val="20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73352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0EDE8"/>
                </a:solidFill>
                <a:latin typeface="Aptos"/>
              </a:rPr>
              <a:t>DEVELOPER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95728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B5451B"/>
                </a:solidFill>
                <a:latin typeface="Aptos"/>
              </a:rPr>
              <a:t>Free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004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A0B5CC"/>
                </a:solidFill>
                <a:latin typeface="Aptos"/>
              </a:rPr>
              <a:t>10,000 attestations / month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767328"/>
            <a:ext cx="2926079" cy="27432"/>
          </a:xfrm>
          <a:prstGeom prst="rect">
            <a:avLst/>
          </a:prstGeom>
          <a:solidFill>
            <a:srgbClr val="B54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88620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200"/>
              </a:lnSpc>
            </a:pPr>
            <a:r>
              <a:rPr sz="1500" b="0" i="0">
                <a:solidFill>
                  <a:srgbClr val="B0C2D5"/>
                </a:solidFill>
                <a:latin typeface="Aptos"/>
              </a:rPr>
              <a:t>Builds ecosystem adoption.
No commitment required.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1688" y="1600200"/>
            <a:ext cx="3474720" cy="4206240"/>
          </a:xfrm>
          <a:prstGeom prst="roundRect">
            <a:avLst>
              <a:gd name="adj" fmla="val 5000"/>
            </a:avLst>
          </a:prstGeom>
          <a:solidFill>
            <a:srgbClr val="122845"/>
          </a:solidFill>
          <a:ln w="19050">
            <a:solidFill>
              <a:srgbClr val="B545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61688" y="1600200"/>
            <a:ext cx="3474720" cy="640080"/>
          </a:xfrm>
          <a:prstGeom prst="rect">
            <a:avLst/>
          </a:prstGeom>
          <a:solidFill>
            <a:srgbClr val="20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98848" y="1673352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0EDE8"/>
                </a:solidFill>
                <a:latin typeface="Aptos"/>
              </a:rPr>
              <a:t>STARTUP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8848" y="2395728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B5451B"/>
                </a:solidFill>
                <a:latin typeface="Aptos"/>
              </a:rPr>
              <a:t>$99 / month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8848" y="32004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0EDE8"/>
                </a:solidFill>
                <a:latin typeface="Aptos"/>
              </a:rPr>
              <a:t>500,000 attestations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36007" y="3767328"/>
            <a:ext cx="2926079" cy="27432"/>
          </a:xfrm>
          <a:prstGeom prst="rect">
            <a:avLst/>
          </a:prstGeom>
          <a:solidFill>
            <a:srgbClr val="B54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44568" y="388620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200"/>
              </a:lnSpc>
            </a:pPr>
            <a:r>
              <a:rPr sz="1500" b="0" i="0">
                <a:solidFill>
                  <a:srgbClr val="F0EDE8"/>
                </a:solidFill>
                <a:latin typeface="Aptos"/>
              </a:rPr>
              <a:t>Usage-based growth.
For teams shipping agentic products.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0456" y="1600200"/>
            <a:ext cx="3474720" cy="4206240"/>
          </a:xfrm>
          <a:prstGeom prst="roundRect">
            <a:avLst>
              <a:gd name="adj" fmla="val 5000"/>
            </a:avLst>
          </a:prstGeom>
          <a:solidFill>
            <a:srgbClr val="B54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0456" y="1600200"/>
            <a:ext cx="3474720" cy="640080"/>
          </a:xfrm>
          <a:prstGeom prst="rect">
            <a:avLst/>
          </a:prstGeom>
          <a:solidFill>
            <a:srgbClr val="9535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57616" y="1673352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0EDE8"/>
                </a:solidFill>
                <a:latin typeface="Aptos"/>
              </a:rPr>
              <a:t>ENTERPRISE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7616" y="2395728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0EDE8"/>
                </a:solidFill>
                <a:latin typeface="Aptos"/>
              </a:rPr>
              <a:t>Custom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7616" y="32004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0EDE8"/>
                </a:solidFill>
                <a:latin typeface="Aptos"/>
              </a:rPr>
              <a:t>$10,000 – $100,000+ / year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494776" y="3767328"/>
            <a:ext cx="2926079" cy="27432"/>
          </a:xfrm>
          <a:prstGeom prst="rect">
            <a:avLst/>
          </a:prstGeom>
          <a:solidFill>
            <a:srgbClr val="F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03336" y="388620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200"/>
              </a:lnSpc>
            </a:pPr>
            <a:r>
              <a:rPr sz="1500" b="0" i="0">
                <a:solidFill>
                  <a:srgbClr val="F0EDE8"/>
                </a:solidFill>
                <a:latin typeface="Aptos"/>
              </a:rPr>
              <a:t>Contracts, SLAs, compliance audits.
Dedicated support.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71600" y="5943600"/>
            <a:ext cx="9448495" cy="658368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71600" y="6016752"/>
            <a:ext cx="94484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B5451B"/>
                </a:solidFill>
                <a:latin typeface="Aptos"/>
              </a:rPr>
              <a:t>One enterprise contract equals more revenue than 1,000 startup customers.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656832"/>
            <a:ext cx="12191695" cy="54864"/>
          </a:xfrm>
          <a:prstGeom prst="rect">
            <a:avLst/>
          </a:prstGeom>
          <a:solidFill>
            <a:srgbClr val="B54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545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Quad Arrow 1"/>
          <p:cNvSpPr/>
          <p:nvPr/>
        </p:nvSpPr>
        <p:spPr>
          <a:xfrm>
            <a:off x="164592" y="91440"/>
            <a:ext cx="292608" cy="292608"/>
          </a:xfrm>
          <a:prstGeom prst="quadArrow">
            <a:avLst/>
          </a:prstGeom>
          <a:solidFill>
            <a:srgbClr val="B54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6858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0EDE8"/>
                </a:solidFill>
                <a:latin typeface="Aptos"/>
              </a:rPr>
              <a:t>VANE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0EDE8"/>
                </a:solidFill>
                <a:latin typeface="Aptos"/>
              </a:rPr>
              <a:t>What I need from you.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74519"/>
            <a:ext cx="3474720" cy="3657600"/>
          </a:xfrm>
          <a:prstGeom prst="roundRect">
            <a:avLst>
              <a:gd name="adj" fmla="val 5000"/>
            </a:avLst>
          </a:prstGeom>
          <a:solidFill>
            <a:srgbClr val="953510"/>
          </a:solidFill>
          <a:ln w="19050">
            <a:solidFill>
              <a:srgbClr val="F0E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029968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0EDE8"/>
                </a:solidFill>
                <a:latin typeface="Aptos"/>
              </a:rPr>
              <a:t>LEGAL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688336"/>
            <a:ext cx="3108960" cy="36576"/>
          </a:xfrm>
          <a:prstGeom prst="rect">
            <a:avLst/>
          </a:prstGeom>
          <a:solidFill>
            <a:srgbClr val="D46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798064"/>
            <a:ext cx="310896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</a:pPr>
            <a:r>
              <a:rPr sz="1600" b="0" i="0">
                <a:solidFill>
                  <a:srgbClr val="F5E0D5"/>
                </a:solidFill>
                <a:latin typeface="Aptos"/>
              </a:rPr>
              <a:t>Form the LLC and open the business bank account. Review customer contracts and terms of service. Help me build this on a solid legal foundation.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1688" y="1874519"/>
            <a:ext cx="3474720" cy="3657600"/>
          </a:xfrm>
          <a:prstGeom prst="roundRect">
            <a:avLst>
              <a:gd name="adj" fmla="val 5000"/>
            </a:avLst>
          </a:prstGeom>
          <a:solidFill>
            <a:srgbClr val="953510"/>
          </a:solidFill>
          <a:ln w="19050">
            <a:solidFill>
              <a:srgbClr val="F0E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4568" y="2029968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0EDE8"/>
                </a:solidFill>
                <a:latin typeface="Aptos"/>
              </a:rPr>
              <a:t>NETWORK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44568" y="2688336"/>
            <a:ext cx="3108960" cy="36576"/>
          </a:xfrm>
          <a:prstGeom prst="rect">
            <a:avLst/>
          </a:prstGeom>
          <a:solidFill>
            <a:srgbClr val="D46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2798064"/>
            <a:ext cx="310896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</a:pPr>
            <a:r>
              <a:rPr sz="1600" b="0" i="0">
                <a:solidFill>
                  <a:srgbClr val="F5E0D5"/>
                </a:solidFill>
                <a:latin typeface="Aptos"/>
              </a:rPr>
              <a:t>Introduction to the right people at Subway and Lanco. One warm introduction is worth a year of cold outreach.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0456" y="1874519"/>
            <a:ext cx="3474720" cy="3657600"/>
          </a:xfrm>
          <a:prstGeom prst="roundRect">
            <a:avLst>
              <a:gd name="adj" fmla="val 5000"/>
            </a:avLst>
          </a:prstGeom>
          <a:solidFill>
            <a:srgbClr val="953510"/>
          </a:solidFill>
          <a:ln w="19050">
            <a:solidFill>
              <a:srgbClr val="F0E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03336" y="2029968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0EDE8"/>
                </a:solidFill>
                <a:latin typeface="Aptos"/>
              </a:rPr>
              <a:t>GUIDANCE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03336" y="2688336"/>
            <a:ext cx="3108960" cy="36576"/>
          </a:xfrm>
          <a:prstGeom prst="rect">
            <a:avLst/>
          </a:prstGeom>
          <a:solidFill>
            <a:srgbClr val="D46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03336" y="2798064"/>
            <a:ext cx="310896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</a:pPr>
            <a:r>
              <a:rPr sz="1600" b="0" i="0">
                <a:solidFill>
                  <a:srgbClr val="F5E0D5"/>
                </a:solidFill>
                <a:latin typeface="Aptos"/>
              </a:rPr>
              <a:t>Advice and accountability as I build this from college. Your experience is worth more than capital right now.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80644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F0EDE8"/>
                </a:solidFill>
                <a:latin typeface="Aptos"/>
              </a:rPr>
              <a:t>I am not asking for money. I am asking for your expertise and your network.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Quad Arrow 1"/>
          <p:cNvSpPr/>
          <p:nvPr/>
        </p:nvSpPr>
        <p:spPr>
          <a:xfrm>
            <a:off x="164592" y="91440"/>
            <a:ext cx="292608" cy="292608"/>
          </a:xfrm>
          <a:prstGeom prst="quadArrow">
            <a:avLst/>
          </a:prstGeom>
          <a:solidFill>
            <a:srgbClr val="B54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6858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0EDE8"/>
                </a:solidFill>
                <a:latin typeface="Aptos"/>
              </a:rPr>
              <a:t>VANE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F0EDE8"/>
                </a:solidFill>
                <a:latin typeface="Aptos"/>
              </a:rPr>
              <a:t>Give your agents identity.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2926080"/>
            <a:ext cx="3962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B5451B"/>
                </a:solidFill>
                <a:latin typeface="Aptos"/>
              </a:rPr>
              <a:t>vane.build</a:t>
            </a:r>
          </a:p>
        </p:txBody>
      </p:sp>
      <p:pic>
        <p:nvPicPr>
          <p:cNvPr id="6" name="Picture 5" descr="qr_va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3749039"/>
            <a:ext cx="2514600" cy="25146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800600" y="3703320"/>
            <a:ext cx="2606040" cy="2606040"/>
          </a:xfrm>
          <a:prstGeom prst="roundRect">
            <a:avLst>
              <a:gd name="adj" fmla="val 3000"/>
            </a:avLst>
          </a:prstGeom>
          <a:noFill/>
          <a:ln w="25400">
            <a:solidFill>
              <a:srgbClr val="B545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6492240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A5E7A"/>
                </a:solidFill>
                <a:latin typeface="Aptos"/>
              </a:rPr>
              <a:t>Built in Puerto Rico.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